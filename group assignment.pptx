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4" r:id="rId9"/>
    <p:sldId id="265" r:id="rId10"/>
    <p:sldId id="266" r:id="rId11"/>
    <p:sldId id="268"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2-10T04:55:37.528" idx="1">
    <p:pos x="10" y="10"/>
    <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C3A72CA-C03A-4C6D-AF18-45CA49131F41}" type="datetimeFigureOut">
              <a:rPr lang="en-US" smtClean="0"/>
              <a:t>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1171683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3A72CA-C03A-4C6D-AF18-45CA49131F41}" type="datetimeFigureOut">
              <a:rPr lang="en-US" smtClean="0"/>
              <a:t>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2317252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1267218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C3A72CA-C03A-4C6D-AF18-45CA49131F41}" type="datetimeFigureOut">
              <a:rPr lang="en-US" smtClean="0"/>
              <a:t>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78246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C3A72CA-C03A-4C6D-AF18-45CA49131F41}" type="datetimeFigureOut">
              <a:rPr lang="en-US" smtClean="0"/>
              <a:t>2/22/2020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27389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C3A72CA-C03A-4C6D-AF18-45CA49131F41}" type="datetimeFigureOut">
              <a:rPr lang="en-US" smtClean="0"/>
              <a:t>2/22/2020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1694548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3A72CA-C03A-4C6D-AF18-45CA49131F41}" type="datetimeFigureOut">
              <a:rPr lang="en-US" smtClean="0"/>
              <a:t>2/22/2020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564937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C3A72CA-C03A-4C6D-AF18-45CA49131F41}" type="datetimeFigureOut">
              <a:rPr lang="en-US" smtClean="0"/>
              <a:t>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708982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6399212" y="5883275"/>
            <a:ext cx="914400" cy="365125"/>
          </a:xfrm>
        </p:spPr>
        <p:txBody>
          <a:bodyPr/>
          <a:lstStyle/>
          <a:p>
            <a:fld id="{2C3A72CA-C03A-4C6D-AF18-45CA49131F41}" type="datetimeFigureOut">
              <a:rPr lang="en-US" smtClean="0"/>
              <a:t>2/22/2020</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563068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C3A72CA-C03A-4C6D-AF18-45CA49131F41}" type="datetimeFigureOut">
              <a:rPr lang="en-US" smtClean="0"/>
              <a:t>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427072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663345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632943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994791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337940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3A72CA-C03A-4C6D-AF18-45CA49131F41}" type="datetimeFigureOut">
              <a:rPr lang="en-US" smtClean="0"/>
              <a:t>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2788529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3A72CA-C03A-4C6D-AF18-45CA49131F41}" type="datetimeFigureOut">
              <a:rPr lang="en-US" smtClean="0"/>
              <a:t>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2240583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3A72CA-C03A-4C6D-AF18-45CA49131F41}" type="datetimeFigureOut">
              <a:rPr lang="en-US" smtClean="0"/>
              <a:t>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73413E-EDC9-4E71-ABFA-16BD4DF6C53A}" type="slidenum">
              <a:rPr lang="en-US" smtClean="0"/>
              <a:t>‹#›</a:t>
            </a:fld>
            <a:endParaRPr lang="en-US"/>
          </a:p>
        </p:txBody>
      </p:sp>
    </p:spTree>
    <p:extLst>
      <p:ext uri="{BB962C8B-B14F-4D97-AF65-F5344CB8AC3E}">
        <p14:creationId xmlns:p14="http://schemas.microsoft.com/office/powerpoint/2010/main" val="2516911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2C3A72CA-C03A-4C6D-AF18-45CA49131F41}" type="datetimeFigureOut">
              <a:rPr lang="en-US" smtClean="0"/>
              <a:t>2/22/2020</a:t>
            </a:fld>
            <a:endParaRPr 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6E73413E-EDC9-4E71-ABFA-16BD4DF6C53A}" type="slidenum">
              <a:rPr lang="en-US" smtClean="0"/>
              <a:t>‹#›</a:t>
            </a:fld>
            <a:endParaRPr lang="en-US"/>
          </a:p>
        </p:txBody>
      </p:sp>
    </p:spTree>
    <p:extLst>
      <p:ext uri="{BB962C8B-B14F-4D97-AF65-F5344CB8AC3E}">
        <p14:creationId xmlns:p14="http://schemas.microsoft.com/office/powerpoint/2010/main" val="236700777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86478" y="2192138"/>
            <a:ext cx="9822873" cy="3970318"/>
          </a:xfrm>
          <a:prstGeom prst="rect">
            <a:avLst/>
          </a:prstGeom>
          <a:noFill/>
        </p:spPr>
        <p:txBody>
          <a:bodyPr wrap="square" rtlCol="0">
            <a:spAutoFit/>
          </a:bodyPr>
          <a:lstStyle/>
          <a:p>
            <a:r>
              <a:rPr lang="en-US" sz="2800" b="1" u="sng" dirty="0" smtClean="0"/>
              <a:t>G</a:t>
            </a:r>
            <a:r>
              <a:rPr lang="ki-Latn" sz="2800" b="1" u="sng" dirty="0" smtClean="0"/>
              <a:t>ROUP 4</a:t>
            </a:r>
          </a:p>
          <a:p>
            <a:endParaRPr lang="ki-Latn" sz="2800" b="1" dirty="0"/>
          </a:p>
          <a:p>
            <a:r>
              <a:rPr lang="ki-Latn" sz="2800" b="1" dirty="0" smtClean="0"/>
              <a:t>MEMBERS:</a:t>
            </a:r>
          </a:p>
          <a:p>
            <a:pPr marL="342900" indent="-342900">
              <a:buFont typeface="+mj-lt"/>
              <a:buAutoNum type="arabicPeriod"/>
            </a:pPr>
            <a:r>
              <a:rPr lang="ki-Latn" sz="2800" b="1" dirty="0" smtClean="0"/>
              <a:t>JOEL KANYI</a:t>
            </a:r>
          </a:p>
          <a:p>
            <a:pPr marL="342900" indent="-342900">
              <a:buFont typeface="+mj-lt"/>
              <a:buAutoNum type="arabicPeriod"/>
            </a:pPr>
            <a:r>
              <a:rPr lang="ki-Latn" sz="2800" b="1" dirty="0" smtClean="0"/>
              <a:t>KIMANZI LOICE</a:t>
            </a:r>
          </a:p>
          <a:p>
            <a:pPr marL="342900" indent="-342900">
              <a:buFont typeface="+mj-lt"/>
              <a:buAutoNum type="arabicPeriod"/>
            </a:pPr>
            <a:r>
              <a:rPr lang="ki-Latn" sz="2800" b="1" dirty="0" smtClean="0"/>
              <a:t>JERIMIAH AKUNGA</a:t>
            </a:r>
          </a:p>
          <a:p>
            <a:pPr marL="342900" indent="-342900">
              <a:buFont typeface="+mj-lt"/>
              <a:buAutoNum type="arabicPeriod"/>
            </a:pPr>
            <a:r>
              <a:rPr lang="ki-Latn" sz="2800" b="1" dirty="0" smtClean="0"/>
              <a:t>WELDON MUTAI</a:t>
            </a:r>
          </a:p>
          <a:p>
            <a:pPr marL="342900" indent="-342900">
              <a:buFont typeface="+mj-lt"/>
              <a:buAutoNum type="arabicPeriod"/>
            </a:pPr>
            <a:r>
              <a:rPr lang="ki-Latn" sz="2800" b="1" dirty="0" smtClean="0"/>
              <a:t>FRANCIS MUTUA</a:t>
            </a:r>
          </a:p>
          <a:p>
            <a:pPr marL="342900" indent="-342900">
              <a:buFont typeface="+mj-lt"/>
              <a:buAutoNum type="arabicPeriod"/>
            </a:pPr>
            <a:r>
              <a:rPr lang="ki-Latn" sz="2800" b="1" dirty="0" smtClean="0"/>
              <a:t>MIKE BOTA</a:t>
            </a:r>
            <a:endParaRPr lang="en-US" sz="2800" b="1" dirty="0"/>
          </a:p>
        </p:txBody>
      </p:sp>
      <p:sp>
        <p:nvSpPr>
          <p:cNvPr id="7" name="TextBox 6"/>
          <p:cNvSpPr txBox="1"/>
          <p:nvPr/>
        </p:nvSpPr>
        <p:spPr>
          <a:xfrm>
            <a:off x="745588" y="745588"/>
            <a:ext cx="10607040" cy="1446550"/>
          </a:xfrm>
          <a:prstGeom prst="rect">
            <a:avLst/>
          </a:prstGeom>
          <a:noFill/>
        </p:spPr>
        <p:txBody>
          <a:bodyPr wrap="square" rtlCol="0">
            <a:spAutoFit/>
          </a:bodyPr>
          <a:lstStyle/>
          <a:p>
            <a:r>
              <a:rPr lang="ki-Latn-001" sz="4400" b="1" u="sng" dirty="0" smtClean="0"/>
              <a:t>EXTERNAL SYSTEM BUS ARCHITECTURE</a:t>
            </a:r>
          </a:p>
          <a:p>
            <a:endParaRPr lang="en-US" sz="4400" u="sng" dirty="0"/>
          </a:p>
        </p:txBody>
      </p:sp>
    </p:spTree>
    <p:extLst>
      <p:ext uri="{BB962C8B-B14F-4D97-AF65-F5344CB8AC3E}">
        <p14:creationId xmlns:p14="http://schemas.microsoft.com/office/powerpoint/2010/main" val="23905215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19367"/>
          </a:xfrm>
        </p:spPr>
        <p:txBody>
          <a:bodyPr>
            <a:noAutofit/>
          </a:bodyPr>
          <a:lstStyle/>
          <a:p>
            <a:r>
              <a:rPr lang="ki-Latn" sz="4000" u="sng" dirty="0" smtClean="0"/>
              <a:t>What is a bus</a:t>
            </a:r>
            <a:r>
              <a:rPr lang="ki-Latn" sz="4000" u="sng" dirty="0" smtClean="0"/>
              <a:t>?</a:t>
            </a:r>
            <a:endParaRPr lang="en-US" sz="4000" u="sng" dirty="0"/>
          </a:p>
        </p:txBody>
      </p:sp>
      <p:sp>
        <p:nvSpPr>
          <p:cNvPr id="3" name="Content Placeholder 2"/>
          <p:cNvSpPr>
            <a:spLocks noGrp="1"/>
          </p:cNvSpPr>
          <p:nvPr>
            <p:ph idx="1"/>
          </p:nvPr>
        </p:nvSpPr>
        <p:spPr>
          <a:xfrm>
            <a:off x="1141413" y="2666999"/>
            <a:ext cx="9905998" cy="1877705"/>
          </a:xfrm>
        </p:spPr>
        <p:txBody>
          <a:bodyPr>
            <a:noAutofit/>
          </a:bodyPr>
          <a:lstStyle/>
          <a:p>
            <a:r>
              <a:rPr lang="en-US" sz="2800" b="1" dirty="0" smtClean="0"/>
              <a:t>A</a:t>
            </a:r>
            <a:r>
              <a:rPr lang="ki-Latn" sz="2800" b="1" dirty="0" smtClean="0"/>
              <a:t> bus is a communication system that transfers data between components inside a computer or between computers</a:t>
            </a:r>
          </a:p>
          <a:p>
            <a:r>
              <a:rPr lang="en-US" sz="2800" b="1" dirty="0">
                <a:latin typeface="Roboto"/>
              </a:rPr>
              <a:t>Bus is a group of conducting wires which carries information,</a:t>
            </a:r>
            <a:endParaRPr lang="ki-Latn" sz="2800" b="1" dirty="0"/>
          </a:p>
          <a:p>
            <a:endParaRPr lang="ki-Latn" sz="2800" b="1" dirty="0" smtClean="0"/>
          </a:p>
          <a:p>
            <a:r>
              <a:rPr lang="ki-Latn" sz="2800" b="1" u="sng" dirty="0" smtClean="0"/>
              <a:t>Types of Buses</a:t>
            </a:r>
          </a:p>
          <a:p>
            <a:pPr marL="457200" indent="-457200">
              <a:buFont typeface="+mj-lt"/>
              <a:buAutoNum type="arabicPeriod"/>
            </a:pPr>
            <a:r>
              <a:rPr lang="en-US" sz="2800" b="1" dirty="0" smtClean="0"/>
              <a:t>D</a:t>
            </a:r>
            <a:r>
              <a:rPr lang="ki-Latn" sz="2800" b="1" dirty="0" smtClean="0"/>
              <a:t>ata bus</a:t>
            </a:r>
          </a:p>
          <a:p>
            <a:pPr marL="457200" indent="-457200">
              <a:buFont typeface="+mj-lt"/>
              <a:buAutoNum type="arabicPeriod"/>
            </a:pPr>
            <a:r>
              <a:rPr lang="ki-Latn" sz="2800" b="1" dirty="0" smtClean="0"/>
              <a:t>Address bus</a:t>
            </a:r>
          </a:p>
          <a:p>
            <a:pPr marL="457200" indent="-457200">
              <a:buFont typeface="+mj-lt"/>
              <a:buAutoNum type="arabicPeriod"/>
            </a:pPr>
            <a:r>
              <a:rPr lang="en-US" sz="2800" b="1" dirty="0" smtClean="0"/>
              <a:t>C</a:t>
            </a:r>
            <a:r>
              <a:rPr lang="ki-Latn" sz="2800" b="1" dirty="0" smtClean="0"/>
              <a:t>ontrol bus</a:t>
            </a:r>
            <a:endParaRPr lang="en-US" sz="2800" b="1" dirty="0"/>
          </a:p>
        </p:txBody>
      </p:sp>
    </p:spTree>
    <p:extLst>
      <p:ext uri="{BB962C8B-B14F-4D97-AF65-F5344CB8AC3E}">
        <p14:creationId xmlns:p14="http://schemas.microsoft.com/office/powerpoint/2010/main" val="38809290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3206" y="751344"/>
            <a:ext cx="11409528" cy="5262979"/>
          </a:xfrm>
          <a:prstGeom prst="rect">
            <a:avLst/>
          </a:prstGeom>
        </p:spPr>
        <p:txBody>
          <a:bodyPr wrap="square">
            <a:spAutoFit/>
          </a:bodyPr>
          <a:lstStyle/>
          <a:p>
            <a:pPr fontAlgn="base"/>
            <a:r>
              <a:rPr lang="en-US" sz="2400" b="1" i="0" u="sng" dirty="0" smtClean="0">
                <a:effectLst/>
                <a:latin typeface="Roboto"/>
              </a:rPr>
              <a:t>Address bus –</a:t>
            </a:r>
            <a:endParaRPr lang="ki-Latn" sz="2400" b="1" i="0" u="sng" dirty="0" smtClean="0">
              <a:effectLst/>
              <a:latin typeface="Roboto"/>
            </a:endParaRPr>
          </a:p>
          <a:p>
            <a:pPr fontAlgn="base"/>
            <a:r>
              <a:rPr lang="en-US" sz="2400" dirty="0" smtClean="0"/>
              <a:t/>
            </a:r>
            <a:br>
              <a:rPr lang="en-US" sz="2400" dirty="0" smtClean="0"/>
            </a:br>
            <a:r>
              <a:rPr lang="en-US" sz="2400" b="0" i="0" dirty="0" smtClean="0">
                <a:effectLst/>
                <a:latin typeface="Roboto"/>
              </a:rPr>
              <a:t>It is a group of conducting wires which carries address only.</a:t>
            </a:r>
            <a:r>
              <a:rPr lang="ki-Latn" sz="2400" b="0" i="0" dirty="0" smtClean="0">
                <a:effectLst/>
                <a:latin typeface="Roboto"/>
              </a:rPr>
              <a:t> </a:t>
            </a:r>
            <a:r>
              <a:rPr lang="en-US" sz="2400" b="0" i="0" dirty="0" smtClean="0">
                <a:effectLst/>
                <a:latin typeface="Roboto"/>
              </a:rPr>
              <a:t>Address bus is unidirectional because data flow in one direction, from microprocessor to memory or from microprocessor to Input/output devices (That is, Out of Microprocessor).Length of Address Bus of 8085 microprocessor is 16 Bit (That is, Four Hexadecimal Digits), ranging from 0000 H to FFFF H, (H denotes Hexadecimal). The microprocessor 8085 can transfer maximum 16 bit address which means it can address 65, 536 different memory location.</a:t>
            </a:r>
          </a:p>
          <a:p>
            <a:pPr fontAlgn="base"/>
            <a:r>
              <a:rPr lang="en-US" sz="2400" b="0" i="0" dirty="0" smtClean="0">
                <a:effectLst/>
                <a:latin typeface="Roboto"/>
              </a:rPr>
              <a:t>The Length of the address bus determines the amount of memory a system can address.</a:t>
            </a:r>
            <a:r>
              <a:rPr lang="ki-Latn" sz="2400" b="0" i="0" dirty="0" smtClean="0">
                <a:effectLst/>
                <a:latin typeface="Roboto"/>
              </a:rPr>
              <a:t> </a:t>
            </a:r>
            <a:r>
              <a:rPr lang="en-US" sz="2400" b="0" i="0" dirty="0" smtClean="0">
                <a:effectLst/>
                <a:latin typeface="Roboto"/>
              </a:rPr>
              <a:t>Such as a system with a 32-bit address bus can address 2^32 memory locations.</a:t>
            </a:r>
            <a:r>
              <a:rPr lang="ki-Latn" sz="2400" b="0" i="0" dirty="0" smtClean="0">
                <a:effectLst/>
                <a:latin typeface="Roboto"/>
              </a:rPr>
              <a:t> </a:t>
            </a:r>
            <a:r>
              <a:rPr lang="en-US" sz="2400" b="0" i="0" dirty="0" smtClean="0">
                <a:effectLst/>
                <a:latin typeface="Roboto"/>
              </a:rPr>
              <a:t>If each memory location holds one byte, the addressable memory space is 4 GB.</a:t>
            </a:r>
            <a:r>
              <a:rPr lang="ki-Latn" sz="2400" b="0" i="0" dirty="0" smtClean="0">
                <a:effectLst/>
                <a:latin typeface="Roboto"/>
              </a:rPr>
              <a:t> </a:t>
            </a:r>
            <a:r>
              <a:rPr lang="en-US" sz="2400" b="0" i="0" dirty="0" smtClean="0">
                <a:effectLst/>
                <a:latin typeface="Roboto"/>
              </a:rPr>
              <a:t>However, the actual amount of memory that can be accessed is usually much less than this theoretical limit due to chipset and motherboard limitations.</a:t>
            </a:r>
            <a:endParaRPr lang="en-US" sz="2400" b="0" i="0" dirty="0">
              <a:effectLst/>
              <a:latin typeface="Roboto"/>
            </a:endParaRPr>
          </a:p>
        </p:txBody>
      </p:sp>
    </p:spTree>
    <p:extLst>
      <p:ext uri="{BB962C8B-B14F-4D97-AF65-F5344CB8AC3E}">
        <p14:creationId xmlns:p14="http://schemas.microsoft.com/office/powerpoint/2010/main" val="30223814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2137" y="1166843"/>
            <a:ext cx="11245756" cy="4893647"/>
          </a:xfrm>
          <a:prstGeom prst="rect">
            <a:avLst/>
          </a:prstGeom>
        </p:spPr>
        <p:txBody>
          <a:bodyPr wrap="square">
            <a:spAutoFit/>
          </a:bodyPr>
          <a:lstStyle/>
          <a:p>
            <a:pPr fontAlgn="base"/>
            <a:r>
              <a:rPr lang="en-US" sz="2400" b="1" i="0" u="sng" dirty="0" smtClean="0">
                <a:effectLst/>
                <a:latin typeface="Roboto"/>
              </a:rPr>
              <a:t>Data bus –</a:t>
            </a:r>
            <a:endParaRPr lang="ki-Latn" sz="2400" b="1" i="0" u="sng" dirty="0" smtClean="0">
              <a:effectLst/>
              <a:latin typeface="Roboto"/>
            </a:endParaRPr>
          </a:p>
          <a:p>
            <a:pPr fontAlgn="base"/>
            <a:r>
              <a:rPr lang="en-US" sz="2400" dirty="0" smtClean="0"/>
              <a:t/>
            </a:r>
            <a:br>
              <a:rPr lang="en-US" sz="2400" dirty="0" smtClean="0"/>
            </a:br>
            <a:r>
              <a:rPr lang="en-US" sz="2400" b="0" i="0" dirty="0" smtClean="0">
                <a:effectLst/>
                <a:latin typeface="Roboto"/>
              </a:rPr>
              <a:t>It is a group of conducting wires which carries Data only.</a:t>
            </a:r>
            <a:r>
              <a:rPr lang="ki-Latn" sz="2400" b="0" i="0" dirty="0" smtClean="0">
                <a:effectLst/>
                <a:latin typeface="Roboto"/>
              </a:rPr>
              <a:t> </a:t>
            </a:r>
            <a:r>
              <a:rPr lang="en-US" sz="2400" b="0" i="0" dirty="0" smtClean="0">
                <a:effectLst/>
                <a:latin typeface="Roboto"/>
              </a:rPr>
              <a:t>Data bus is bidirectional because data flow in both directions, from microprocessor to memory or </a:t>
            </a:r>
            <a:r>
              <a:rPr lang="en-US" sz="2400" b="0" i="0" dirty="0" err="1" smtClean="0">
                <a:effectLst/>
                <a:latin typeface="Roboto"/>
              </a:rPr>
              <a:t>Input/Output</a:t>
            </a:r>
            <a:r>
              <a:rPr lang="en-US" sz="2400" b="0" i="0" dirty="0" smtClean="0">
                <a:effectLst/>
                <a:latin typeface="Roboto"/>
              </a:rPr>
              <a:t> devices and from memory or </a:t>
            </a:r>
            <a:r>
              <a:rPr lang="en-US" sz="2400" b="0" i="0" dirty="0" err="1" smtClean="0">
                <a:effectLst/>
                <a:latin typeface="Roboto"/>
              </a:rPr>
              <a:t>Input/Output</a:t>
            </a:r>
            <a:r>
              <a:rPr lang="en-US" sz="2400" b="0" i="0" dirty="0" smtClean="0">
                <a:effectLst/>
                <a:latin typeface="Roboto"/>
              </a:rPr>
              <a:t> devices to microprocessor.</a:t>
            </a:r>
            <a:r>
              <a:rPr lang="ki-Latn" sz="2400" b="0" i="0" dirty="0" smtClean="0">
                <a:effectLst/>
                <a:latin typeface="Roboto"/>
              </a:rPr>
              <a:t> </a:t>
            </a:r>
            <a:r>
              <a:rPr lang="en-US" sz="2400" b="0" i="0" dirty="0" smtClean="0">
                <a:effectLst/>
                <a:latin typeface="Roboto"/>
              </a:rPr>
              <a:t>Length of Data Bus of 8085 microprocessor is 8 Bit (That is, two Hexadecimal Digits), ranging from 00 H to FF H. (H denotes Hexadecimal).</a:t>
            </a:r>
          </a:p>
          <a:p>
            <a:pPr fontAlgn="base"/>
            <a:r>
              <a:rPr lang="en-US" sz="2400" b="0" i="0" dirty="0" smtClean="0">
                <a:effectLst/>
                <a:latin typeface="Roboto"/>
              </a:rPr>
              <a:t>When it is write operation, the processor will put the data (to be written) on the data bus, when it is read operation, the memory controller will get the data from specific memory block and put it into the data bus.</a:t>
            </a:r>
          </a:p>
          <a:p>
            <a:pPr fontAlgn="base"/>
            <a:r>
              <a:rPr lang="en-US" sz="2400" b="0" i="0" dirty="0" smtClean="0">
                <a:effectLst/>
                <a:latin typeface="Roboto"/>
              </a:rPr>
              <a:t>The width of the data bus is directly related to the largest number that the bus can carry, such as an 8 bit bus can represent 2 to the power of 8 unique values, this equates to the number 0 to 255.A 16 bit bus can carry 0 to 65535.</a:t>
            </a:r>
            <a:endParaRPr lang="en-US" sz="2400" b="0" i="0" dirty="0">
              <a:effectLst/>
              <a:latin typeface="Roboto"/>
            </a:endParaRPr>
          </a:p>
        </p:txBody>
      </p:sp>
    </p:spTree>
    <p:extLst>
      <p:ext uri="{BB962C8B-B14F-4D97-AF65-F5344CB8AC3E}">
        <p14:creationId xmlns:p14="http://schemas.microsoft.com/office/powerpoint/2010/main" val="19823899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14149" y="761453"/>
            <a:ext cx="11013743" cy="4893647"/>
          </a:xfrm>
          <a:prstGeom prst="rect">
            <a:avLst/>
          </a:prstGeom>
        </p:spPr>
        <p:txBody>
          <a:bodyPr wrap="square">
            <a:spAutoFit/>
          </a:bodyPr>
          <a:lstStyle/>
          <a:p>
            <a:pPr fontAlgn="base"/>
            <a:r>
              <a:rPr lang="en-US" sz="2400" b="1" i="0" u="sng" dirty="0" smtClean="0">
                <a:effectLst/>
                <a:latin typeface="Roboto"/>
              </a:rPr>
              <a:t>Control bus –</a:t>
            </a:r>
            <a:endParaRPr lang="ki-Latn" sz="2400" b="1" i="0" u="sng" dirty="0" smtClean="0">
              <a:effectLst/>
              <a:latin typeface="Roboto"/>
            </a:endParaRPr>
          </a:p>
          <a:p>
            <a:pPr fontAlgn="base"/>
            <a:r>
              <a:rPr lang="en-US" sz="2400" dirty="0" smtClean="0"/>
              <a:t/>
            </a:r>
            <a:br>
              <a:rPr lang="en-US" sz="2400" dirty="0" smtClean="0"/>
            </a:br>
            <a:r>
              <a:rPr lang="en-US" sz="2400" b="0" i="0" dirty="0" smtClean="0">
                <a:effectLst/>
                <a:latin typeface="Roboto"/>
              </a:rPr>
              <a:t>It is a group of conducting wires, which is used to generate timing and control signals to control all the associated peripherals, microprocessor uses control bus to process data, that is what to do with selected memory location. Some control signals are:</a:t>
            </a:r>
            <a:r>
              <a:rPr lang="ki-Latn" sz="2400" b="0" i="0" dirty="0" smtClean="0">
                <a:effectLst/>
                <a:latin typeface="Roboto"/>
              </a:rPr>
              <a:t> </a:t>
            </a:r>
            <a:r>
              <a:rPr lang="en-US" sz="2400" b="0" i="0" dirty="0" smtClean="0">
                <a:effectLst/>
                <a:latin typeface="Roboto"/>
              </a:rPr>
              <a:t>Memory read</a:t>
            </a:r>
          </a:p>
          <a:p>
            <a:pPr fontAlgn="base">
              <a:buFont typeface="Arial" panose="020B0604020202020204" pitchFamily="34" charset="0"/>
              <a:buChar char="•"/>
            </a:pPr>
            <a:r>
              <a:rPr lang="en-US" sz="2400" b="0" i="0" dirty="0" smtClean="0">
                <a:effectLst/>
                <a:latin typeface="Roboto"/>
              </a:rPr>
              <a:t>Memory write</a:t>
            </a:r>
          </a:p>
          <a:p>
            <a:pPr fontAlgn="base">
              <a:buFont typeface="Arial" panose="020B0604020202020204" pitchFamily="34" charset="0"/>
              <a:buChar char="•"/>
            </a:pPr>
            <a:r>
              <a:rPr lang="en-US" sz="2400" b="0" i="0" dirty="0" smtClean="0">
                <a:effectLst/>
                <a:latin typeface="Roboto"/>
              </a:rPr>
              <a:t>I/O read</a:t>
            </a:r>
          </a:p>
          <a:p>
            <a:pPr fontAlgn="base">
              <a:buFont typeface="Arial" panose="020B0604020202020204" pitchFamily="34" charset="0"/>
              <a:buChar char="•"/>
            </a:pPr>
            <a:r>
              <a:rPr lang="en-US" sz="2400" b="0" i="0" dirty="0" smtClean="0">
                <a:effectLst/>
                <a:latin typeface="Roboto"/>
              </a:rPr>
              <a:t>I/O Write</a:t>
            </a:r>
          </a:p>
          <a:p>
            <a:pPr fontAlgn="base">
              <a:buFont typeface="Arial" panose="020B0604020202020204" pitchFamily="34" charset="0"/>
              <a:buChar char="•"/>
            </a:pPr>
            <a:r>
              <a:rPr lang="en-US" sz="2400" b="0" i="0" dirty="0" smtClean="0">
                <a:effectLst/>
                <a:latin typeface="Roboto"/>
              </a:rPr>
              <a:t>Opcode fetch</a:t>
            </a:r>
          </a:p>
          <a:p>
            <a:pPr fontAlgn="base"/>
            <a:r>
              <a:rPr lang="en-US" sz="2400" b="0" i="0" dirty="0" smtClean="0">
                <a:effectLst/>
                <a:latin typeface="Roboto"/>
              </a:rPr>
              <a:t>If one line of control bus may be the read/write </a:t>
            </a:r>
            <a:r>
              <a:rPr lang="en-US" sz="2400" b="0" i="0" dirty="0" err="1" smtClean="0">
                <a:effectLst/>
                <a:latin typeface="Roboto"/>
              </a:rPr>
              <a:t>line.If</a:t>
            </a:r>
            <a:r>
              <a:rPr lang="en-US" sz="2400" b="0" i="0" dirty="0" smtClean="0">
                <a:effectLst/>
                <a:latin typeface="Roboto"/>
              </a:rPr>
              <a:t> the wire is low (no electricity flowing) then the memory is read, if the wire is high (electricity is flowing) then the memory is written.</a:t>
            </a:r>
            <a:endParaRPr lang="en-US" sz="2400" b="0" i="0" dirty="0">
              <a:effectLst/>
              <a:latin typeface="Roboto"/>
            </a:endParaRPr>
          </a:p>
        </p:txBody>
      </p:sp>
    </p:spTree>
    <p:extLst>
      <p:ext uri="{BB962C8B-B14F-4D97-AF65-F5344CB8AC3E}">
        <p14:creationId xmlns:p14="http://schemas.microsoft.com/office/powerpoint/2010/main" val="4784238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87604" y="2019575"/>
            <a:ext cx="11518711" cy="2308324"/>
          </a:xfrm>
          <a:prstGeom prst="rect">
            <a:avLst/>
          </a:prstGeom>
        </p:spPr>
        <p:txBody>
          <a:bodyPr wrap="square">
            <a:spAutoFit/>
          </a:bodyPr>
          <a:lstStyle/>
          <a:p>
            <a:pPr fontAlgn="base"/>
            <a:r>
              <a:rPr lang="en-US" sz="3600" b="1" u="sng" dirty="0" smtClean="0">
                <a:effectLst/>
              </a:rPr>
              <a:t>Bus organization of 8085 microprocessor</a:t>
            </a:r>
            <a:endParaRPr lang="ki-Latn" sz="3600" b="1" u="sng" dirty="0" smtClean="0">
              <a:effectLst/>
            </a:endParaRPr>
          </a:p>
          <a:p>
            <a:pPr fontAlgn="base"/>
            <a:endParaRPr lang="en-US" sz="3600" b="1" u="sng" dirty="0" smtClean="0">
              <a:effectLst/>
            </a:endParaRPr>
          </a:p>
          <a:p>
            <a:pPr fontAlgn="base"/>
            <a:r>
              <a:rPr lang="ki-Latn" sz="2400" dirty="0">
                <a:latin typeface="Roboto"/>
              </a:rPr>
              <a:t>A</a:t>
            </a:r>
            <a:r>
              <a:rPr lang="en-US" sz="2400" b="0" i="0" dirty="0" err="1" smtClean="0">
                <a:effectLst/>
                <a:latin typeface="Roboto"/>
              </a:rPr>
              <a:t>ll</a:t>
            </a:r>
            <a:r>
              <a:rPr lang="en-US" sz="2400" b="0" i="0" dirty="0" smtClean="0">
                <a:effectLst/>
                <a:latin typeface="Roboto"/>
              </a:rPr>
              <a:t> the peripherals are connected to microprocessor through Bus.</a:t>
            </a:r>
            <a:endParaRPr lang="ki-Latn" sz="2400" b="0" i="0" dirty="0" smtClean="0">
              <a:effectLst/>
              <a:latin typeface="Roboto"/>
            </a:endParaRPr>
          </a:p>
          <a:p>
            <a:pPr fontAlgn="base"/>
            <a:endParaRPr lang="en-US" sz="2400" b="0" i="0" dirty="0" smtClean="0">
              <a:effectLst/>
              <a:latin typeface="Roboto"/>
            </a:endParaRPr>
          </a:p>
          <a:p>
            <a:pPr fontAlgn="base"/>
            <a:r>
              <a:rPr lang="en-US" sz="2400" b="0" i="0" dirty="0" smtClean="0">
                <a:effectLst/>
                <a:latin typeface="Roboto"/>
              </a:rPr>
              <a:t>Diagram to represent bus organization system of 8085 Microprocessor.</a:t>
            </a:r>
            <a:endParaRPr lang="en-US" sz="2400" b="0" i="0" dirty="0">
              <a:effectLst/>
              <a:latin typeface="Roboto"/>
            </a:endParaRPr>
          </a:p>
        </p:txBody>
      </p:sp>
    </p:spTree>
    <p:extLst>
      <p:ext uri="{BB962C8B-B14F-4D97-AF65-F5344CB8AC3E}">
        <p14:creationId xmlns:p14="http://schemas.microsoft.com/office/powerpoint/2010/main" val="28455744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27546" y="436729"/>
            <a:ext cx="11464120" cy="5854890"/>
          </a:xfrm>
          <a:prstGeom prst="rect">
            <a:avLst/>
          </a:prstGeom>
        </p:spPr>
      </p:pic>
    </p:spTree>
    <p:extLst>
      <p:ext uri="{BB962C8B-B14F-4D97-AF65-F5344CB8AC3E}">
        <p14:creationId xmlns:p14="http://schemas.microsoft.com/office/powerpoint/2010/main" val="32297954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8982" y="1774660"/>
            <a:ext cx="10751127" cy="378565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smtClean="0"/>
              <a:t>It </a:t>
            </a:r>
            <a:r>
              <a:rPr lang="en-US" sz="2400" dirty="0"/>
              <a:t>is a 16 bit processor with 40 pins. </a:t>
            </a:r>
            <a:endParaRPr lang="ki-Latn" sz="2400" dirty="0" smtClean="0"/>
          </a:p>
          <a:p>
            <a:pPr marL="342900" indent="-342900">
              <a:buFont typeface="Wingdings" panose="05000000000000000000" pitchFamily="2" charset="2"/>
              <a:buChar char="Ø"/>
            </a:pPr>
            <a:r>
              <a:rPr lang="en-US" sz="2400" dirty="0" smtClean="0"/>
              <a:t>It </a:t>
            </a:r>
            <a:r>
              <a:rPr lang="en-US" sz="2400" dirty="0"/>
              <a:t>has 20 address pins and out of which </a:t>
            </a:r>
            <a:r>
              <a:rPr lang="en-US" sz="2400" dirty="0" smtClean="0"/>
              <a:t>16</a:t>
            </a:r>
            <a:r>
              <a:rPr lang="ki-Latn" sz="2400" dirty="0" smtClean="0"/>
              <a:t> </a:t>
            </a:r>
            <a:r>
              <a:rPr lang="en-US" sz="2400" dirty="0" smtClean="0"/>
              <a:t>are </a:t>
            </a:r>
            <a:r>
              <a:rPr lang="en-US" sz="2400" dirty="0"/>
              <a:t>used as data </a:t>
            </a:r>
            <a:r>
              <a:rPr lang="en-US" sz="2400" dirty="0" smtClean="0"/>
              <a:t>pins. </a:t>
            </a:r>
            <a:endParaRPr lang="ki-Latn" sz="2400" dirty="0" smtClean="0"/>
          </a:p>
          <a:p>
            <a:pPr marL="342900" indent="-342900">
              <a:buFont typeface="Wingdings" panose="05000000000000000000" pitchFamily="2" charset="2"/>
              <a:buChar char="Ø"/>
            </a:pPr>
            <a:r>
              <a:rPr lang="en-US" sz="2400" dirty="0" smtClean="0"/>
              <a:t>This</a:t>
            </a:r>
            <a:r>
              <a:rPr lang="ki-Latn" sz="2400" dirty="0" smtClean="0"/>
              <a:t> </a:t>
            </a:r>
            <a:r>
              <a:rPr lang="en-US" sz="2400" dirty="0" smtClean="0"/>
              <a:t>concept </a:t>
            </a:r>
            <a:r>
              <a:rPr lang="en-US" sz="2400" dirty="0"/>
              <a:t>of using same pins for both address and data is called Multiplexing. It has 16 control signals. </a:t>
            </a:r>
            <a:endParaRPr lang="ki-Latn" sz="2400" dirty="0" smtClean="0"/>
          </a:p>
          <a:p>
            <a:pPr marL="342900" indent="-342900">
              <a:buFont typeface="Wingdings" panose="05000000000000000000" pitchFamily="2" charset="2"/>
              <a:buChar char="Ø"/>
            </a:pPr>
            <a:r>
              <a:rPr lang="en-US" sz="2400" dirty="0" smtClean="0"/>
              <a:t>It can</a:t>
            </a:r>
            <a:r>
              <a:rPr lang="ki-Latn" sz="2400" dirty="0" smtClean="0"/>
              <a:t> </a:t>
            </a:r>
            <a:r>
              <a:rPr lang="en-US" sz="2400" dirty="0" smtClean="0"/>
              <a:t>access </a:t>
            </a:r>
            <a:r>
              <a:rPr lang="en-US" sz="2400" dirty="0"/>
              <a:t>a memory of 1 </a:t>
            </a:r>
            <a:r>
              <a:rPr lang="en-US" sz="2400" dirty="0" smtClean="0"/>
              <a:t>MB.</a:t>
            </a:r>
            <a:endParaRPr lang="en-US" sz="2400" dirty="0"/>
          </a:p>
          <a:p>
            <a:pPr marL="342900" indent="-342900">
              <a:buFont typeface="Wingdings" panose="05000000000000000000" pitchFamily="2" charset="2"/>
              <a:buChar char="Ø"/>
            </a:pPr>
            <a:r>
              <a:rPr lang="en-US" sz="2400" dirty="0"/>
              <a:t>It has 14 registers which are 16 bits wide. </a:t>
            </a:r>
            <a:endParaRPr lang="ki-Latn" sz="2400" dirty="0" smtClean="0"/>
          </a:p>
          <a:p>
            <a:pPr marL="342900" indent="-342900">
              <a:buFont typeface="Wingdings" panose="05000000000000000000" pitchFamily="2" charset="2"/>
              <a:buChar char="Ø"/>
            </a:pPr>
            <a:r>
              <a:rPr lang="en-US" sz="2400" dirty="0" smtClean="0"/>
              <a:t>There </a:t>
            </a:r>
            <a:r>
              <a:rPr lang="en-US" sz="2400" dirty="0"/>
              <a:t>are a set of arithmetic registers, set of pointers(Base </a:t>
            </a:r>
            <a:r>
              <a:rPr lang="en-US" sz="2400" dirty="0" smtClean="0"/>
              <a:t>and</a:t>
            </a:r>
            <a:r>
              <a:rPr lang="ki-Latn" sz="2400" dirty="0" smtClean="0"/>
              <a:t> </a:t>
            </a:r>
            <a:r>
              <a:rPr lang="en-US" sz="2400" dirty="0" smtClean="0"/>
              <a:t>Index </a:t>
            </a:r>
            <a:r>
              <a:rPr lang="en-US" sz="2400" dirty="0"/>
              <a:t>registers),set of segment registers. </a:t>
            </a:r>
            <a:endParaRPr lang="ki-Latn" sz="2400" dirty="0" smtClean="0"/>
          </a:p>
          <a:p>
            <a:pPr marL="342900" indent="-342900">
              <a:buFont typeface="Wingdings" panose="05000000000000000000" pitchFamily="2" charset="2"/>
              <a:buChar char="Ø"/>
            </a:pPr>
            <a:r>
              <a:rPr lang="en-US" sz="2400" dirty="0" smtClean="0"/>
              <a:t>It </a:t>
            </a:r>
            <a:r>
              <a:rPr lang="en-US" sz="2400" dirty="0"/>
              <a:t>has program status word(PSW) or Flag register and a </a:t>
            </a:r>
            <a:r>
              <a:rPr lang="en-US" sz="2400" dirty="0" smtClean="0"/>
              <a:t>instruction</a:t>
            </a:r>
            <a:r>
              <a:rPr lang="ki-Latn" sz="2400" dirty="0" smtClean="0"/>
              <a:t> </a:t>
            </a:r>
            <a:r>
              <a:rPr lang="en-US" sz="2400" dirty="0" smtClean="0"/>
              <a:t>pointer.</a:t>
            </a:r>
            <a:endParaRPr lang="ki-Latn" sz="1600" dirty="0"/>
          </a:p>
        </p:txBody>
      </p:sp>
      <p:sp>
        <p:nvSpPr>
          <p:cNvPr id="9" name="TextBox 8"/>
          <p:cNvSpPr txBox="1"/>
          <p:nvPr/>
        </p:nvSpPr>
        <p:spPr>
          <a:xfrm>
            <a:off x="1237957" y="759655"/>
            <a:ext cx="9636369" cy="707886"/>
          </a:xfrm>
          <a:prstGeom prst="rect">
            <a:avLst/>
          </a:prstGeom>
          <a:noFill/>
        </p:spPr>
        <p:txBody>
          <a:bodyPr wrap="square" rtlCol="0">
            <a:spAutoFit/>
          </a:bodyPr>
          <a:lstStyle/>
          <a:p>
            <a:r>
              <a:rPr lang="ki-Latn" sz="4000" b="1" u="sng" dirty="0" smtClean="0"/>
              <a:t>EXTERNAL SYSTEM BUS ARCHITECTURE</a:t>
            </a:r>
            <a:endParaRPr lang="en-US" sz="4000" b="1" u="sng" dirty="0"/>
          </a:p>
        </p:txBody>
      </p:sp>
    </p:spTree>
    <p:extLst>
      <p:ext uri="{BB962C8B-B14F-4D97-AF65-F5344CB8AC3E}">
        <p14:creationId xmlns:p14="http://schemas.microsoft.com/office/powerpoint/2010/main" val="18939638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9822" y="492369"/>
            <a:ext cx="9994990" cy="5635475"/>
          </a:xfrm>
          <a:prstGeom prst="rect">
            <a:avLst/>
          </a:prstGeom>
        </p:spPr>
      </p:pic>
    </p:spTree>
    <p:extLst>
      <p:ext uri="{BB962C8B-B14F-4D97-AF65-F5344CB8AC3E}">
        <p14:creationId xmlns:p14="http://schemas.microsoft.com/office/powerpoint/2010/main" val="7125917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19068" y="271582"/>
            <a:ext cx="11402291" cy="6586418"/>
          </a:xfrm>
          <a:prstGeom prst="rect">
            <a:avLst/>
          </a:prstGeom>
          <a:noFill/>
        </p:spPr>
        <p:txBody>
          <a:bodyPr wrap="square" rtlCol="0">
            <a:spAutoFit/>
          </a:bodyPr>
          <a:lstStyle/>
          <a:p>
            <a:r>
              <a:rPr lang="en-US" sz="2800" b="1" i="0" u="sng" dirty="0" smtClean="0">
                <a:effectLst/>
                <a:latin typeface="Arial" panose="020B0604020202020204" pitchFamily="34" charset="0"/>
              </a:rPr>
              <a:t>Architecture of 8086</a:t>
            </a:r>
          </a:p>
          <a:p>
            <a:endParaRPr lang="ki-Latn" sz="2800" dirty="0"/>
          </a:p>
          <a:p>
            <a:r>
              <a:rPr lang="ki-Latn" sz="2800" b="1" u="sng" dirty="0" smtClean="0"/>
              <a:t>EXECUTION UNIT (EU) and BUS INTERFACE UNIT (BIU)</a:t>
            </a:r>
            <a:endParaRPr lang="ki-Latn" sz="2800" u="sng" dirty="0" smtClean="0"/>
          </a:p>
          <a:p>
            <a:r>
              <a:rPr lang="en-US" sz="2800" dirty="0" smtClean="0"/>
              <a:t>808</a:t>
            </a:r>
            <a:r>
              <a:rPr lang="ki-Latn" sz="2800" dirty="0"/>
              <a:t>6</a:t>
            </a:r>
            <a:r>
              <a:rPr lang="en-US" sz="2800" dirty="0" smtClean="0"/>
              <a:t> </a:t>
            </a:r>
            <a:r>
              <a:rPr lang="en-US" sz="2800" dirty="0"/>
              <a:t>consist of two processors called EU and BIU. Two Processors can work in parallel. This improves</a:t>
            </a:r>
          </a:p>
          <a:p>
            <a:r>
              <a:rPr lang="en-US" sz="2800" dirty="0"/>
              <a:t>speed of execution. BIU fetches instruction and place them in instruction queue</a:t>
            </a:r>
            <a:r>
              <a:rPr lang="en-US" sz="2800" dirty="0" smtClean="0"/>
              <a:t>.</a:t>
            </a:r>
            <a:endParaRPr lang="ki-Latn" sz="2800" dirty="0" smtClean="0"/>
          </a:p>
          <a:p>
            <a:endParaRPr lang="ki-Latn" sz="2800" dirty="0"/>
          </a:p>
          <a:p>
            <a:r>
              <a:rPr lang="en-US" sz="2800" dirty="0"/>
              <a:t>Execution unit decodes and execute instruction. When EU is executing an instruction BIU can fetch the</a:t>
            </a:r>
          </a:p>
          <a:p>
            <a:r>
              <a:rPr lang="en-US" sz="2800" dirty="0"/>
              <a:t>next instruction</a:t>
            </a:r>
            <a:r>
              <a:rPr lang="en-US" sz="2800" dirty="0" smtClean="0"/>
              <a:t>.</a:t>
            </a:r>
            <a:endParaRPr lang="ki-Latn" sz="2800" dirty="0" smtClean="0"/>
          </a:p>
          <a:p>
            <a:endParaRPr lang="ki-Latn" sz="2800" dirty="0" smtClean="0"/>
          </a:p>
          <a:p>
            <a:endParaRPr lang="ki-Latn" sz="2800" dirty="0"/>
          </a:p>
          <a:p>
            <a:r>
              <a:rPr lang="en-US" dirty="0" smtClean="0">
                <a:solidFill>
                  <a:srgbClr val="FF0000"/>
                </a:solidFill>
              </a:rPr>
              <a:t>The diagram</a:t>
            </a:r>
            <a:r>
              <a:rPr lang="ki-Latn" dirty="0" smtClean="0">
                <a:solidFill>
                  <a:srgbClr val="FF0000"/>
                </a:solidFill>
              </a:rPr>
              <a:t> below</a:t>
            </a:r>
            <a:r>
              <a:rPr lang="en-US" dirty="0" smtClean="0">
                <a:solidFill>
                  <a:srgbClr val="FF0000"/>
                </a:solidFill>
              </a:rPr>
              <a:t> </a:t>
            </a:r>
            <a:r>
              <a:rPr lang="en-US" dirty="0">
                <a:solidFill>
                  <a:srgbClr val="FF0000"/>
                </a:solidFill>
              </a:rPr>
              <a:t>depicts the architecture of a 8086 Microprocessor −</a:t>
            </a:r>
            <a:endParaRPr lang="ki-Latn" sz="2800" dirty="0">
              <a:solidFill>
                <a:srgbClr val="FF0000"/>
              </a:solidFill>
            </a:endParaRPr>
          </a:p>
          <a:p>
            <a:endParaRPr lang="ki-Latn" dirty="0" smtClean="0"/>
          </a:p>
          <a:p>
            <a:endParaRPr lang="en-US" dirty="0"/>
          </a:p>
        </p:txBody>
      </p:sp>
    </p:spTree>
    <p:extLst>
      <p:ext uri="{BB962C8B-B14F-4D97-AF65-F5344CB8AC3E}">
        <p14:creationId xmlns:p14="http://schemas.microsoft.com/office/powerpoint/2010/main" val="33712501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23581" y="614150"/>
            <a:ext cx="10072049" cy="5513696"/>
          </a:xfrm>
          <a:prstGeom prst="rect">
            <a:avLst/>
          </a:prstGeom>
        </p:spPr>
      </p:pic>
    </p:spTree>
    <p:extLst>
      <p:ext uri="{BB962C8B-B14F-4D97-AF65-F5344CB8AC3E}">
        <p14:creationId xmlns:p14="http://schemas.microsoft.com/office/powerpoint/2010/main" val="6266498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715" y="2069910"/>
            <a:ext cx="5054671" cy="1905000"/>
          </a:xfrm>
        </p:spPr>
        <p:txBody>
          <a:bodyPr>
            <a:noAutofit/>
          </a:bodyPr>
          <a:lstStyle/>
          <a:p>
            <a:pPr algn="ctr"/>
            <a:r>
              <a:rPr lang="ki-Latn" sz="5400" b="1" dirty="0" smtClean="0"/>
              <a:t>THE END</a:t>
            </a:r>
            <a:br>
              <a:rPr lang="ki-Latn" sz="5400" b="1" dirty="0" smtClean="0"/>
            </a:br>
            <a:r>
              <a:rPr lang="ki-Latn" sz="5400" b="1" dirty="0"/>
              <a:t/>
            </a:r>
            <a:br>
              <a:rPr lang="ki-Latn" sz="5400" b="1" dirty="0"/>
            </a:br>
            <a:r>
              <a:rPr lang="ki-Latn" sz="5400" b="1" dirty="0" smtClean="0"/>
              <a:t>THANK YOU...</a:t>
            </a:r>
            <a:endParaRPr lang="en-US" sz="5400" b="1" dirty="0"/>
          </a:p>
        </p:txBody>
      </p:sp>
    </p:spTree>
    <p:extLst>
      <p:ext uri="{BB962C8B-B14F-4D97-AF65-F5344CB8AC3E}">
        <p14:creationId xmlns:p14="http://schemas.microsoft.com/office/powerpoint/2010/main" val="177542924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35</TotalTime>
  <Words>286</Words>
  <Application>Microsoft Office PowerPoint</Application>
  <PresentationFormat>Widescreen</PresentationFormat>
  <Paragraphs>57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Century Gothic</vt:lpstr>
      <vt:lpstr>Roboto</vt:lpstr>
      <vt:lpstr>Wingdings</vt:lpstr>
      <vt:lpstr>Mesh</vt:lpstr>
      <vt:lpstr>PowerPoint Presentation</vt:lpstr>
      <vt:lpstr>What is a bus?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END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5</cp:revision>
  <dcterms:created xsi:type="dcterms:W3CDTF">2020-02-22T10:11:02Z</dcterms:created>
  <dcterms:modified xsi:type="dcterms:W3CDTF">2020-02-22T10:46:30Z</dcterms:modified>
</cp:coreProperties>
</file>